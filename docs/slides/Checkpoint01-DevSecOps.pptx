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org-cloud-security/cp01-devsecops.fia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10642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Checkpoint 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9200" y="1981200"/>
            <a:ext cx="10360152" cy="3192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67"/>
              </a:lnSpc>
              <a:buNone/>
            </a:pPr>
            <a:r>
              <a:rPr lang="en-US" sz="7200" b="1" spc="-144" kern="0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Segurança open source no pipeline DevSecOps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219200" y="5440680"/>
            <a:ext cx="110642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SAST · SCA · IaC Security · DAST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19200" y="6690360"/>
            <a:ext cx="100584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7086600"/>
            <a:ext cx="286769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Anderson Huang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78593" y="7086600"/>
            <a:ext cx="183068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RM 565920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53200" y="7086600"/>
            <a:ext cx="264137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Bruno Henrique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06853" y="7086600"/>
            <a:ext cx="177737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RM 566277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19200" y="7772400"/>
            <a:ext cx="312085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Guylherme Miguel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208740" y="7772400"/>
            <a:ext cx="178981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RM 562374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53200" y="7772400"/>
            <a:ext cx="149880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Luiz Brito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068151" y="7772400"/>
            <a:ext cx="170966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RM 562192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19200" y="8610600"/>
            <a:ext cx="110642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 Security: Automation e DevSecOps · FIAP · 2026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2496800" y="2857500"/>
            <a:ext cx="4572000" cy="45720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496800" y="28575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74345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Introdução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9200" y="1828800"/>
            <a:ext cx="174345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b="1" spc="-60" kern="0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Agenda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219200" y="3505200"/>
            <a:ext cx="75438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Abertura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077200" y="3619500"/>
            <a:ext cx="1771650" cy="457200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6" name="Text 4"/>
          <p:cNvSpPr/>
          <p:nvPr/>
        </p:nvSpPr>
        <p:spPr>
          <a:xfrm>
            <a:off x="14973300" y="3505200"/>
            <a:ext cx="20955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min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219200" y="4495800"/>
            <a:ext cx="75438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quatro ferramentas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077200" y="4610100"/>
            <a:ext cx="5905500" cy="457200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9" name="Text 7"/>
          <p:cNvSpPr/>
          <p:nvPr/>
        </p:nvSpPr>
        <p:spPr>
          <a:xfrm>
            <a:off x="14973300" y="4495800"/>
            <a:ext cx="20955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min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219200" y="5486400"/>
            <a:ext cx="75438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Laboratório ao vivo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8077200" y="5600700"/>
            <a:ext cx="7086600" cy="457200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12" name="Text 10"/>
          <p:cNvSpPr/>
          <p:nvPr/>
        </p:nvSpPr>
        <p:spPr>
          <a:xfrm>
            <a:off x="14973300" y="5486400"/>
            <a:ext cx="20955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min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219200" y="6477000"/>
            <a:ext cx="75438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Comparativo e conclusão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8077200" y="6591300"/>
            <a:ext cx="1771650" cy="457200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15" name="Text 13"/>
          <p:cNvSpPr/>
          <p:nvPr/>
        </p:nvSpPr>
        <p:spPr>
          <a:xfrm>
            <a:off x="14973300" y="6477000"/>
            <a:ext cx="20955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min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219200" y="7467600"/>
            <a:ext cx="75438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Perguntas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8077200" y="7581900"/>
            <a:ext cx="1181100" cy="457200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18" name="Text 16"/>
          <p:cNvSpPr/>
          <p:nvPr/>
        </p:nvSpPr>
        <p:spPr>
          <a:xfrm>
            <a:off x="14973300" y="7467600"/>
            <a:ext cx="20955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min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219200" y="9220200"/>
            <a:ext cx="448175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Checkpoint 01 · DevSecOps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702088" y="9220200"/>
            <a:ext cx="44291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74345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Introdução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9200" y="1828800"/>
            <a:ext cx="174345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b="1" spc="-60" kern="0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quatro frentes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334000" y="3352800"/>
            <a:ext cx="2490597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SAST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343900" y="3352800"/>
            <a:ext cx="2490597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1353800" y="3352800"/>
            <a:ext cx="2490597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IaC Security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4363700" y="3352800"/>
            <a:ext cx="2490597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DAST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219200" y="4953000"/>
            <a:ext cx="3810000" cy="15240"/>
          </a:xfrm>
          <a:prstGeom prst="rect">
            <a:avLst/>
          </a:prstGeom>
          <a:solidFill>
            <a:srgbClr val="0A2A5E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5196840"/>
            <a:ext cx="36195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analisa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029200" y="4953000"/>
            <a:ext cx="3009900" cy="15240"/>
          </a:xfrm>
          <a:prstGeom prst="rect">
            <a:avLst/>
          </a:prstGeom>
          <a:solidFill>
            <a:srgbClr val="0A2A5E"/>
          </a:solidFill>
          <a:ln/>
        </p:spPr>
      </p:sp>
      <p:sp>
        <p:nvSpPr>
          <p:cNvPr id="11" name="Text 9"/>
          <p:cNvSpPr/>
          <p:nvPr/>
        </p:nvSpPr>
        <p:spPr>
          <a:xfrm>
            <a:off x="5334000" y="5196840"/>
            <a:ext cx="249059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Código-fonte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039100" y="4953000"/>
            <a:ext cx="3009900" cy="15240"/>
          </a:xfrm>
          <a:prstGeom prst="rect">
            <a:avLst/>
          </a:prstGeom>
          <a:solidFill>
            <a:srgbClr val="0A2A5E"/>
          </a:solidFill>
          <a:ln/>
        </p:spPr>
      </p:sp>
      <p:sp>
        <p:nvSpPr>
          <p:cNvPr id="13" name="Text 11"/>
          <p:cNvSpPr/>
          <p:nvPr/>
        </p:nvSpPr>
        <p:spPr>
          <a:xfrm>
            <a:off x="8343900" y="5196840"/>
            <a:ext cx="249059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Dependências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1049000" y="4953000"/>
            <a:ext cx="3009900" cy="15240"/>
          </a:xfrm>
          <a:prstGeom prst="rect">
            <a:avLst/>
          </a:prstGeom>
          <a:solidFill>
            <a:srgbClr val="0A2A5E"/>
          </a:solidFill>
          <a:ln/>
        </p:spPr>
      </p:sp>
      <p:sp>
        <p:nvSpPr>
          <p:cNvPr id="15" name="Text 13"/>
          <p:cNvSpPr/>
          <p:nvPr/>
        </p:nvSpPr>
        <p:spPr>
          <a:xfrm>
            <a:off x="11353800" y="5196840"/>
            <a:ext cx="249059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Arquivos de infraestrutura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4058900" y="4953000"/>
            <a:ext cx="3009900" cy="15240"/>
          </a:xfrm>
          <a:prstGeom prst="rect">
            <a:avLst/>
          </a:prstGeom>
          <a:solidFill>
            <a:srgbClr val="0A2A5E"/>
          </a:solidFill>
          <a:ln/>
        </p:spPr>
      </p:sp>
      <p:sp>
        <p:nvSpPr>
          <p:cNvPr id="17" name="Text 15"/>
          <p:cNvSpPr/>
          <p:nvPr/>
        </p:nvSpPr>
        <p:spPr>
          <a:xfrm>
            <a:off x="14363700" y="5196840"/>
            <a:ext cx="249059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Aplicação em execução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219200" y="6339840"/>
            <a:ext cx="38100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19" name="Text 17"/>
          <p:cNvSpPr/>
          <p:nvPr/>
        </p:nvSpPr>
        <p:spPr>
          <a:xfrm>
            <a:off x="1219200" y="6583680"/>
            <a:ext cx="36195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Estágio do pipeline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5029200" y="6339840"/>
            <a:ext cx="30099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21" name="Text 19"/>
          <p:cNvSpPr/>
          <p:nvPr/>
        </p:nvSpPr>
        <p:spPr>
          <a:xfrm>
            <a:off x="5334000" y="6583680"/>
            <a:ext cx="249059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8039100" y="6339840"/>
            <a:ext cx="30099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23" name="Text 21"/>
          <p:cNvSpPr/>
          <p:nvPr/>
        </p:nvSpPr>
        <p:spPr>
          <a:xfrm>
            <a:off x="8343900" y="6583680"/>
            <a:ext cx="249059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1049000" y="6339840"/>
            <a:ext cx="30099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25" name="Text 23"/>
          <p:cNvSpPr/>
          <p:nvPr/>
        </p:nvSpPr>
        <p:spPr>
          <a:xfrm>
            <a:off x="11353800" y="6583680"/>
            <a:ext cx="249059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 e Deploy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4058900" y="6339840"/>
            <a:ext cx="30099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27" name="Text 25"/>
          <p:cNvSpPr/>
          <p:nvPr/>
        </p:nvSpPr>
        <p:spPr>
          <a:xfrm>
            <a:off x="14363700" y="6583680"/>
            <a:ext cx="249059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1219200" y="8656320"/>
            <a:ext cx="38100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29" name="Shape 27"/>
          <p:cNvSpPr/>
          <p:nvPr/>
        </p:nvSpPr>
        <p:spPr>
          <a:xfrm>
            <a:off x="1219200" y="7269480"/>
            <a:ext cx="38100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30" name="Text 28"/>
          <p:cNvSpPr/>
          <p:nvPr/>
        </p:nvSpPr>
        <p:spPr>
          <a:xfrm>
            <a:off x="1219200" y="7513320"/>
            <a:ext cx="36195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Exige a aplicação em execução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5029200" y="8656320"/>
            <a:ext cx="30099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32" name="Shape 30"/>
          <p:cNvSpPr/>
          <p:nvPr/>
        </p:nvSpPr>
        <p:spPr>
          <a:xfrm>
            <a:off x="5029200" y="7269480"/>
            <a:ext cx="30099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33" name="Text 31"/>
          <p:cNvSpPr/>
          <p:nvPr/>
        </p:nvSpPr>
        <p:spPr>
          <a:xfrm>
            <a:off x="5334000" y="7513320"/>
            <a:ext cx="249059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8039100" y="8656320"/>
            <a:ext cx="30099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35" name="Shape 33"/>
          <p:cNvSpPr/>
          <p:nvPr/>
        </p:nvSpPr>
        <p:spPr>
          <a:xfrm>
            <a:off x="8039100" y="7269480"/>
            <a:ext cx="30099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36" name="Text 34"/>
          <p:cNvSpPr/>
          <p:nvPr/>
        </p:nvSpPr>
        <p:spPr>
          <a:xfrm>
            <a:off x="8343900" y="7513320"/>
            <a:ext cx="249059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11049000" y="8656320"/>
            <a:ext cx="30099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38" name="Shape 36"/>
          <p:cNvSpPr/>
          <p:nvPr/>
        </p:nvSpPr>
        <p:spPr>
          <a:xfrm>
            <a:off x="11049000" y="7269480"/>
            <a:ext cx="30099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39" name="Text 37"/>
          <p:cNvSpPr/>
          <p:nvPr/>
        </p:nvSpPr>
        <p:spPr>
          <a:xfrm>
            <a:off x="11353800" y="7513320"/>
            <a:ext cx="249059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14058900" y="7269480"/>
            <a:ext cx="3009900" cy="1402080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41" name="Shape 39"/>
          <p:cNvSpPr/>
          <p:nvPr/>
        </p:nvSpPr>
        <p:spPr>
          <a:xfrm>
            <a:off x="14058900" y="8656320"/>
            <a:ext cx="3009900" cy="15240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42" name="Shape 40"/>
          <p:cNvSpPr/>
          <p:nvPr/>
        </p:nvSpPr>
        <p:spPr>
          <a:xfrm>
            <a:off x="14058900" y="7269480"/>
            <a:ext cx="3009900" cy="15240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43" name="Text 41"/>
          <p:cNvSpPr/>
          <p:nvPr/>
        </p:nvSpPr>
        <p:spPr>
          <a:xfrm>
            <a:off x="14363700" y="7513320"/>
            <a:ext cx="249059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1219200" y="9220200"/>
            <a:ext cx="448175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Checkpoint 01 · DevSecOps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16697802" y="9220200"/>
            <a:ext cx="44719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74345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Introdução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9200" y="1828800"/>
            <a:ext cx="174345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b="1" spc="-60" kern="0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Posicionamento no pipeline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4419600" y="3505200"/>
            <a:ext cx="3048000" cy="76200"/>
          </a:xfrm>
          <a:prstGeom prst="rect">
            <a:avLst/>
          </a:prstGeom>
          <a:solidFill>
            <a:srgbClr val="0A2A5E"/>
          </a:solidFill>
          <a:ln/>
        </p:spPr>
      </p:sp>
      <p:sp>
        <p:nvSpPr>
          <p:cNvPr id="5" name="Text 3"/>
          <p:cNvSpPr/>
          <p:nvPr/>
        </p:nvSpPr>
        <p:spPr>
          <a:xfrm>
            <a:off x="4419600" y="3810000"/>
            <a:ext cx="31394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620000" y="3505200"/>
            <a:ext cx="3048000" cy="76200"/>
          </a:xfrm>
          <a:prstGeom prst="rect">
            <a:avLst/>
          </a:prstGeom>
          <a:solidFill>
            <a:srgbClr val="0A2A5E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0" y="3810000"/>
            <a:ext cx="31394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0820400" y="3505200"/>
            <a:ext cx="3048000" cy="76200"/>
          </a:xfrm>
          <a:prstGeom prst="rect">
            <a:avLst/>
          </a:prstGeom>
          <a:solidFill>
            <a:srgbClr val="0A2A5E"/>
          </a:solidFill>
          <a:ln/>
        </p:spPr>
      </p:sp>
      <p:sp>
        <p:nvSpPr>
          <p:cNvPr id="9" name="Text 7"/>
          <p:cNvSpPr/>
          <p:nvPr/>
        </p:nvSpPr>
        <p:spPr>
          <a:xfrm>
            <a:off x="10820400" y="3810000"/>
            <a:ext cx="31394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14020800" y="3505200"/>
            <a:ext cx="3048000" cy="76200"/>
          </a:xfrm>
          <a:prstGeom prst="rect">
            <a:avLst/>
          </a:prstGeom>
          <a:solidFill>
            <a:srgbClr val="0A2A5E"/>
          </a:solidFill>
          <a:ln/>
        </p:spPr>
      </p:sp>
      <p:sp>
        <p:nvSpPr>
          <p:cNvPr id="11" name="Text 9"/>
          <p:cNvSpPr/>
          <p:nvPr/>
        </p:nvSpPr>
        <p:spPr>
          <a:xfrm>
            <a:off x="14020800" y="3810000"/>
            <a:ext cx="31394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Deploy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19200" y="4914900"/>
            <a:ext cx="3352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SAST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419600" y="4876800"/>
            <a:ext cx="3048000" cy="533400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0" y="4876800"/>
            <a:ext cx="3048000" cy="533400"/>
          </a:xfrm>
          <a:prstGeom prst="rect">
            <a:avLst/>
          </a:prstGeom>
          <a:solidFill>
            <a:srgbClr val="E4EDF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20400" y="4876800"/>
            <a:ext cx="3048000" cy="533400"/>
          </a:xfrm>
          <a:prstGeom prst="rect">
            <a:avLst/>
          </a:prstGeom>
          <a:solidFill>
            <a:srgbClr val="E4EDFA"/>
          </a:solidFill>
          <a:ln/>
        </p:spPr>
      </p:sp>
      <p:sp>
        <p:nvSpPr>
          <p:cNvPr id="16" name="Shape 14"/>
          <p:cNvSpPr/>
          <p:nvPr/>
        </p:nvSpPr>
        <p:spPr>
          <a:xfrm>
            <a:off x="14020800" y="4876800"/>
            <a:ext cx="3048000" cy="533400"/>
          </a:xfrm>
          <a:prstGeom prst="rect">
            <a:avLst/>
          </a:prstGeom>
          <a:solidFill>
            <a:srgbClr val="E4EDFA"/>
          </a:solidFill>
          <a:ln/>
        </p:spPr>
      </p:sp>
      <p:sp>
        <p:nvSpPr>
          <p:cNvPr id="17" name="Text 15"/>
          <p:cNvSpPr/>
          <p:nvPr/>
        </p:nvSpPr>
        <p:spPr>
          <a:xfrm>
            <a:off x="1219200" y="5676900"/>
            <a:ext cx="3352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419600" y="5638800"/>
            <a:ext cx="3048000" cy="533400"/>
          </a:xfrm>
          <a:prstGeom prst="rect">
            <a:avLst/>
          </a:prstGeom>
          <a:solidFill>
            <a:srgbClr val="E4EDFA"/>
          </a:solidFill>
          <a:ln/>
        </p:spPr>
      </p:sp>
      <p:sp>
        <p:nvSpPr>
          <p:cNvPr id="19" name="Shape 17"/>
          <p:cNvSpPr/>
          <p:nvPr/>
        </p:nvSpPr>
        <p:spPr>
          <a:xfrm>
            <a:off x="7620000" y="5638800"/>
            <a:ext cx="3048000" cy="533400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20" name="Shape 18"/>
          <p:cNvSpPr/>
          <p:nvPr/>
        </p:nvSpPr>
        <p:spPr>
          <a:xfrm>
            <a:off x="10820400" y="5638800"/>
            <a:ext cx="3048000" cy="533400"/>
          </a:xfrm>
          <a:prstGeom prst="rect">
            <a:avLst/>
          </a:prstGeom>
          <a:solidFill>
            <a:srgbClr val="E4EDFA"/>
          </a:solidFill>
          <a:ln/>
        </p:spPr>
      </p:sp>
      <p:sp>
        <p:nvSpPr>
          <p:cNvPr id="21" name="Shape 19"/>
          <p:cNvSpPr/>
          <p:nvPr/>
        </p:nvSpPr>
        <p:spPr>
          <a:xfrm>
            <a:off x="14020800" y="5638800"/>
            <a:ext cx="3048000" cy="533400"/>
          </a:xfrm>
          <a:prstGeom prst="rect">
            <a:avLst/>
          </a:prstGeom>
          <a:solidFill>
            <a:srgbClr val="E4EDFA"/>
          </a:solidFill>
          <a:ln/>
        </p:spPr>
      </p:sp>
      <p:sp>
        <p:nvSpPr>
          <p:cNvPr id="22" name="Text 20"/>
          <p:cNvSpPr/>
          <p:nvPr/>
        </p:nvSpPr>
        <p:spPr>
          <a:xfrm>
            <a:off x="1219200" y="6438900"/>
            <a:ext cx="3352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IaC Security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4419600" y="6400800"/>
            <a:ext cx="3048000" cy="533400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24" name="Shape 22"/>
          <p:cNvSpPr/>
          <p:nvPr/>
        </p:nvSpPr>
        <p:spPr>
          <a:xfrm>
            <a:off x="7620000" y="6400800"/>
            <a:ext cx="3048000" cy="533400"/>
          </a:xfrm>
          <a:prstGeom prst="rect">
            <a:avLst/>
          </a:prstGeom>
          <a:solidFill>
            <a:srgbClr val="E4EDFA"/>
          </a:solidFill>
          <a:ln/>
        </p:spPr>
      </p:sp>
      <p:sp>
        <p:nvSpPr>
          <p:cNvPr id="25" name="Shape 23"/>
          <p:cNvSpPr/>
          <p:nvPr/>
        </p:nvSpPr>
        <p:spPr>
          <a:xfrm>
            <a:off x="10820400" y="6400800"/>
            <a:ext cx="3048000" cy="533400"/>
          </a:xfrm>
          <a:prstGeom prst="rect">
            <a:avLst/>
          </a:prstGeom>
          <a:solidFill>
            <a:srgbClr val="E4EDFA"/>
          </a:solidFill>
          <a:ln/>
        </p:spPr>
      </p:sp>
      <p:sp>
        <p:nvSpPr>
          <p:cNvPr id="26" name="Shape 24"/>
          <p:cNvSpPr/>
          <p:nvPr/>
        </p:nvSpPr>
        <p:spPr>
          <a:xfrm>
            <a:off x="14020800" y="6400800"/>
            <a:ext cx="3048000" cy="533400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27" name="Text 25"/>
          <p:cNvSpPr/>
          <p:nvPr/>
        </p:nvSpPr>
        <p:spPr>
          <a:xfrm>
            <a:off x="1219200" y="7200900"/>
            <a:ext cx="3352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DAST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4419600" y="7162800"/>
            <a:ext cx="3048000" cy="533400"/>
          </a:xfrm>
          <a:prstGeom prst="rect">
            <a:avLst/>
          </a:prstGeom>
          <a:solidFill>
            <a:srgbClr val="E4EDFA"/>
          </a:solidFill>
          <a:ln/>
        </p:spPr>
      </p:sp>
      <p:sp>
        <p:nvSpPr>
          <p:cNvPr id="29" name="Shape 27"/>
          <p:cNvSpPr/>
          <p:nvPr/>
        </p:nvSpPr>
        <p:spPr>
          <a:xfrm>
            <a:off x="7620000" y="7162800"/>
            <a:ext cx="3048000" cy="533400"/>
          </a:xfrm>
          <a:prstGeom prst="rect">
            <a:avLst/>
          </a:prstGeom>
          <a:solidFill>
            <a:srgbClr val="E4EDFA"/>
          </a:solidFill>
          <a:ln/>
        </p:spPr>
      </p:sp>
      <p:sp>
        <p:nvSpPr>
          <p:cNvPr id="30" name="Shape 28"/>
          <p:cNvSpPr/>
          <p:nvPr/>
        </p:nvSpPr>
        <p:spPr>
          <a:xfrm>
            <a:off x="10820400" y="7162800"/>
            <a:ext cx="3048000" cy="533400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1" name="Shape 29"/>
          <p:cNvSpPr/>
          <p:nvPr/>
        </p:nvSpPr>
        <p:spPr>
          <a:xfrm>
            <a:off x="14020800" y="7162800"/>
            <a:ext cx="3048000" cy="533400"/>
          </a:xfrm>
          <a:prstGeom prst="rect">
            <a:avLst/>
          </a:prstGeom>
          <a:solidFill>
            <a:srgbClr val="E4EDFA"/>
          </a:solidFill>
          <a:ln/>
        </p:spPr>
      </p:sp>
      <p:sp>
        <p:nvSpPr>
          <p:cNvPr id="32" name="Text 30"/>
          <p:cNvSpPr/>
          <p:nvPr/>
        </p:nvSpPr>
        <p:spPr>
          <a:xfrm>
            <a:off x="1219200" y="9220200"/>
            <a:ext cx="448175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Checkpoint 01 · DevSecOps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6685657" y="9220200"/>
            <a:ext cx="45934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727479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9200" y="1828800"/>
            <a:ext cx="727479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b="1" spc="-60" kern="0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Semgrep: o que é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3258800" y="1676400"/>
            <a:ext cx="3810000" cy="10668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43456" r="-43456" t="0" b="0"/>
          <a:stretch/>
        </p:blipFill>
        <p:spPr>
          <a:xfrm>
            <a:off x="13258800" y="1676400"/>
            <a:ext cx="3810000" cy="1066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19200" y="3657600"/>
            <a:ext cx="1255776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Análise estática por correspondência de padrões sobre a árvore sintática do código.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1219200" y="6842760"/>
            <a:ext cx="48768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8" name="Text 5"/>
          <p:cNvSpPr/>
          <p:nvPr/>
        </p:nvSpPr>
        <p:spPr>
          <a:xfrm>
            <a:off x="1219200" y="7086600"/>
            <a:ext cx="53644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Licença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219200" y="7620000"/>
            <a:ext cx="53644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LGPL-2.1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6705600" y="6842760"/>
            <a:ext cx="48768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11" name="Text 8"/>
          <p:cNvSpPr/>
          <p:nvPr/>
        </p:nvSpPr>
        <p:spPr>
          <a:xfrm>
            <a:off x="6705600" y="7086600"/>
            <a:ext cx="53644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Escrito em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705600" y="7620000"/>
            <a:ext cx="53644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OCaml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1219200" y="9220200"/>
            <a:ext cx="448175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Checkpoint 01 · DevSecOps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6685895" y="9220200"/>
            <a:ext cx="45910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74345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9200" y="1828800"/>
            <a:ext cx="174345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b="1" spc="-60" kern="0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Semgrep: como funciona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219200" y="3048000"/>
            <a:ext cx="174345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regra se parece com o código que procura.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19200" y="4343400"/>
            <a:ext cx="85496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Regra · xss.yaml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19200" y="4953000"/>
            <a:ext cx="7772400" cy="2907030"/>
          </a:xfrm>
          <a:prstGeom prst="rect">
            <a:avLst/>
          </a:prstGeom>
          <a:ln w="15240">
            <a:solidFill>
              <a:srgbClr val="D5E0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39240" y="5273040"/>
            <a:ext cx="7364577" cy="4914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6596"/>
              </a:lnSpc>
              <a:buNone/>
            </a:pPr>
            <a:r>
              <a:rPr lang="en-US" sz="2100" dirty="0">
                <a:solidFill>
                  <a:srgbClr val="1C24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rules: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39240" y="5726430"/>
            <a:ext cx="7364577" cy="4914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6596"/>
              </a:lnSpc>
              <a:buNone/>
            </a:pPr>
            <a:r>
              <a:rPr lang="en-US" sz="2100" dirty="0">
                <a:solidFill>
                  <a:srgbClr val="1C24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 id: express-xss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234440" y="6179820"/>
            <a:ext cx="7741920" cy="453390"/>
          </a:xfrm>
          <a:prstGeom prst="rect">
            <a:avLst/>
          </a:prstGeom>
          <a:solidFill>
            <a:srgbClr val="E4EDFA"/>
          </a:solidFill>
          <a:ln/>
        </p:spPr>
      </p:sp>
      <p:sp>
        <p:nvSpPr>
          <p:cNvPr id="10" name="Text 8"/>
          <p:cNvSpPr/>
          <p:nvPr/>
        </p:nvSpPr>
        <p:spPr>
          <a:xfrm>
            <a:off x="1539240" y="6179820"/>
            <a:ext cx="7364577" cy="4914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6596"/>
              </a:lnSpc>
              <a:buNone/>
            </a:pPr>
            <a:r>
              <a:rPr lang="en-US" sz="2100" b="1" dirty="0">
                <a:solidFill>
                  <a:srgbClr val="0A2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pattern: res.send($A + req.query.$X)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39240" y="6633210"/>
            <a:ext cx="7364577" cy="4914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6596"/>
              </a:lnSpc>
              <a:buNone/>
            </a:pPr>
            <a:r>
              <a:rPr lang="en-US" sz="2100" dirty="0">
                <a:solidFill>
                  <a:srgbClr val="1C24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languages: [javascript]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539240" y="7086600"/>
            <a:ext cx="7364577" cy="4914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6596"/>
              </a:lnSpc>
              <a:buNone/>
            </a:pPr>
            <a:r>
              <a:rPr lang="en-US" sz="2100" dirty="0">
                <a:solidFill>
                  <a:srgbClr val="1C24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severity: ERROR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296400" y="4343400"/>
            <a:ext cx="85496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Código · app.js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296400" y="4953000"/>
            <a:ext cx="7772400" cy="2000250"/>
          </a:xfrm>
          <a:prstGeom prst="rect">
            <a:avLst/>
          </a:prstGeom>
          <a:ln w="15240">
            <a:solidFill>
              <a:srgbClr val="D5E0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16440" y="5273040"/>
            <a:ext cx="7364577" cy="4914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6596"/>
              </a:lnSpc>
              <a:buNone/>
            </a:pPr>
            <a:r>
              <a:rPr lang="en-US" sz="2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7  </a:t>
            </a:r>
            <a:pPr algn="l" indent="0" marL="0">
              <a:lnSpc>
                <a:spcPct val="126596"/>
              </a:lnSpc>
              <a:buNone/>
            </a:pPr>
            <a:r>
              <a:rPr lang="en-US" sz="2100" dirty="0">
                <a:solidFill>
                  <a:srgbClr val="1C24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app.get("/hello", (req, res) =&gt; {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616440" y="5726430"/>
            <a:ext cx="7364577" cy="4914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6596"/>
              </a:lnSpc>
              <a:buNone/>
            </a:pPr>
            <a:r>
              <a:rPr lang="en-US" sz="21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8    // VULNERAVEL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311640" y="6179820"/>
            <a:ext cx="7741920" cy="453390"/>
          </a:xfrm>
          <a:prstGeom prst="rect">
            <a:avLst/>
          </a:prstGeom>
          <a:solidFill>
            <a:srgbClr val="E4EDFA"/>
          </a:solidFill>
          <a:ln/>
        </p:spPr>
      </p:sp>
      <p:sp>
        <p:nvSpPr>
          <p:cNvPr id="18" name="Text 16"/>
          <p:cNvSpPr/>
          <p:nvPr/>
        </p:nvSpPr>
        <p:spPr>
          <a:xfrm>
            <a:off x="9616440" y="6179820"/>
            <a:ext cx="7364577" cy="4914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6596"/>
              </a:lnSpc>
              <a:buNone/>
            </a:pPr>
            <a:r>
              <a:rPr lang="en-US" sz="2100" b="1" dirty="0">
                <a:solidFill>
                  <a:srgbClr val="2563C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9  </a:t>
            </a:r>
            <a:pPr algn="l" indent="0" marL="0">
              <a:lnSpc>
                <a:spcPct val="126596"/>
              </a:lnSpc>
              <a:buNone/>
            </a:pPr>
            <a:r>
              <a:rPr lang="en-US" sz="2100" b="1" dirty="0">
                <a:solidFill>
                  <a:srgbClr val="0A2A5E"/>
                </a:solidFill>
                <a:highlight>
                  <a:srgbClr val="E4EDFA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res.send("Hello, " + req.query.name);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19200" y="9220200"/>
            <a:ext cx="448175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Checkpoint 01 · DevSecOps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683753" y="9220200"/>
            <a:ext cx="46124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74345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9200" y="1828800"/>
            <a:ext cx="174345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b="1" spc="-60" kern="0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Semgrep: resultado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219200" y="3657600"/>
            <a:ext cx="5364480" cy="217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667"/>
              </a:lnSpc>
              <a:buNone/>
            </a:pPr>
            <a:r>
              <a:rPr lang="en-US" sz="16800" b="1" spc="-504" kern="0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84 s</a:t>
            </a:r>
            <a:endParaRPr lang="en-US" sz="16800" dirty="0"/>
          </a:p>
        </p:txBody>
      </p:sp>
      <p:sp>
        <p:nvSpPr>
          <p:cNvPr id="5" name="Text 3"/>
          <p:cNvSpPr/>
          <p:nvPr/>
        </p:nvSpPr>
        <p:spPr>
          <a:xfrm>
            <a:off x="1219200" y="5943600"/>
            <a:ext cx="53644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tempo de execução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705600" y="3657600"/>
            <a:ext cx="5364480" cy="217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667"/>
              </a:lnSpc>
              <a:buNone/>
            </a:pPr>
            <a:r>
              <a:rPr lang="en-US" sz="16800" b="1" spc="-504" kern="0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223</a:t>
            </a:r>
            <a:endParaRPr lang="en-US" sz="16800" dirty="0"/>
          </a:p>
        </p:txBody>
      </p:sp>
      <p:sp>
        <p:nvSpPr>
          <p:cNvPr id="7" name="Text 5"/>
          <p:cNvSpPr/>
          <p:nvPr/>
        </p:nvSpPr>
        <p:spPr>
          <a:xfrm>
            <a:off x="6705600" y="5943600"/>
            <a:ext cx="53644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regras avaliadas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192000" y="3657600"/>
            <a:ext cx="5364480" cy="217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667"/>
              </a:lnSpc>
              <a:buNone/>
            </a:pPr>
            <a:r>
              <a:rPr lang="en-US" sz="16800" b="1" spc="-504" kern="0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800" dirty="0"/>
          </a:p>
        </p:txBody>
      </p:sp>
      <p:sp>
        <p:nvSpPr>
          <p:cNvPr id="9" name="Text 7"/>
          <p:cNvSpPr/>
          <p:nvPr/>
        </p:nvSpPr>
        <p:spPr>
          <a:xfrm>
            <a:off x="12192000" y="5943600"/>
            <a:ext cx="53644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achados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19200" y="7315200"/>
            <a:ext cx="158496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11" name="Text 9"/>
          <p:cNvSpPr/>
          <p:nvPr/>
        </p:nvSpPr>
        <p:spPr>
          <a:xfrm>
            <a:off x="1219200" y="7635240"/>
            <a:ext cx="1632508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Encontrou XSS na linha 9 sem subir a aplicação.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19200" y="9220200"/>
            <a:ext cx="448175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Checkpoint 01 · DevSecOps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710899" y="9220200"/>
            <a:ext cx="43410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190754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9200" y="1828800"/>
            <a:ext cx="1190754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b="1" spc="-60" kern="0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Dependency-Check: o que é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3258800" y="1676400"/>
            <a:ext cx="3810000" cy="10668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12143" r="-12143" t="0" b="0"/>
          <a:stretch/>
        </p:blipFill>
        <p:spPr>
          <a:xfrm>
            <a:off x="13258800" y="1676400"/>
            <a:ext cx="3810000" cy="1066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19200" y="3657600"/>
            <a:ext cx="1255776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Compara as dependências declaradas com a base pública de vulnerabilidades da NVD.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1219200" y="6842760"/>
            <a:ext cx="48768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8" name="Text 5"/>
          <p:cNvSpPr/>
          <p:nvPr/>
        </p:nvSpPr>
        <p:spPr>
          <a:xfrm>
            <a:off x="1219200" y="7086600"/>
            <a:ext cx="53644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Licença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219200" y="7620000"/>
            <a:ext cx="53644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Apache-2.0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6705600" y="6842760"/>
            <a:ext cx="48768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11" name="Text 8"/>
          <p:cNvSpPr/>
          <p:nvPr/>
        </p:nvSpPr>
        <p:spPr>
          <a:xfrm>
            <a:off x="6705600" y="7086600"/>
            <a:ext cx="53644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Escrito em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705600" y="7620000"/>
            <a:ext cx="53644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Java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12192000" y="6842760"/>
            <a:ext cx="48768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14" name="Text 11"/>
          <p:cNvSpPr/>
          <p:nvPr/>
        </p:nvSpPr>
        <p:spPr>
          <a:xfrm>
            <a:off x="12192000" y="7086600"/>
            <a:ext cx="53644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 desde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2192000" y="7620000"/>
            <a:ext cx="53644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2012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1219200" y="9220200"/>
            <a:ext cx="448175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Checkpoint 01 · DevSecOps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16684943" y="9220200"/>
            <a:ext cx="46005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74345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9200" y="1828800"/>
            <a:ext cx="174345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b="1" spc="-60" kern="0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Dependency-Check: como funciona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219200" y="3048000"/>
            <a:ext cx="174345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base precisa ser baixada antes da primeira análise.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908721" y="4343400"/>
            <a:ext cx="3073718" cy="609600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6" name="Text 4"/>
          <p:cNvSpPr/>
          <p:nvPr/>
        </p:nvSpPr>
        <p:spPr>
          <a:xfrm>
            <a:off x="7137321" y="4419600"/>
            <a:ext cx="27087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Download prévio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213521" y="4953000"/>
            <a:ext cx="38100" cy="609600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8" name="Shape 6"/>
          <p:cNvSpPr/>
          <p:nvPr/>
        </p:nvSpPr>
        <p:spPr>
          <a:xfrm>
            <a:off x="1219200" y="5600700"/>
            <a:ext cx="4470321" cy="1752600"/>
          </a:xfrm>
          <a:prstGeom prst="rect">
            <a:avLst/>
          </a:prstGeom>
          <a:solidFill>
            <a:srgbClr val="E4EDFA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5981700"/>
            <a:ext cx="424679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Entrada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24000" y="6515100"/>
            <a:ext cx="424679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08"/>
              </a:lnSpc>
              <a:buNone/>
            </a:pPr>
            <a:r>
              <a:rPr lang="en-US" sz="2400" b="1" dirty="0">
                <a:solidFill>
                  <a:srgbClr val="0A2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package-lock.json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841921" y="6457950"/>
            <a:ext cx="723900" cy="38100"/>
          </a:xfrm>
          <a:prstGeom prst="rect">
            <a:avLst/>
          </a:prstGeom>
          <a:solidFill>
            <a:srgbClr val="0A2A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65821" y="6362700"/>
            <a:ext cx="190500" cy="228600"/>
          </a:xfrm>
          <a:prstGeom prst="rect">
            <a:avLst/>
          </a:prstGeom>
          <a:solidFill>
            <a:srgbClr val="0A2A5E"/>
          </a:solidFill>
          <a:ln/>
        </p:spPr>
      </p:sp>
      <p:sp>
        <p:nvSpPr>
          <p:cNvPr id="13" name="Shape 11"/>
          <p:cNvSpPr/>
          <p:nvPr/>
        </p:nvSpPr>
        <p:spPr>
          <a:xfrm>
            <a:off x="6908721" y="5562600"/>
            <a:ext cx="4470440" cy="1828800"/>
          </a:xfrm>
          <a:prstGeom prst="rect">
            <a:avLst/>
          </a:prstGeom>
          <a:solidFill>
            <a:srgbClr val="E4EDFA"/>
          </a:solidFill>
          <a:ln w="38100">
            <a:solidFill>
              <a:srgbClr val="2563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51621" y="5981700"/>
            <a:ext cx="416310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251621" y="6515100"/>
            <a:ext cx="416310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 NVD local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1531560" y="6457950"/>
            <a:ext cx="723900" cy="38100"/>
          </a:xfrm>
          <a:prstGeom prst="rect">
            <a:avLst/>
          </a:prstGeom>
          <a:solidFill>
            <a:srgbClr val="0A2A5E"/>
          </a:solidFill>
          <a:ln/>
        </p:spPr>
      </p:sp>
      <p:sp>
        <p:nvSpPr>
          <p:cNvPr id="17" name="Shape 15"/>
          <p:cNvSpPr/>
          <p:nvPr/>
        </p:nvSpPr>
        <p:spPr>
          <a:xfrm>
            <a:off x="12255460" y="6362700"/>
            <a:ext cx="190500" cy="228600"/>
          </a:xfrm>
          <a:prstGeom prst="rect">
            <a:avLst/>
          </a:prstGeom>
          <a:solidFill>
            <a:srgbClr val="0A2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2598360" y="5600700"/>
            <a:ext cx="4470440" cy="1752600"/>
          </a:xfrm>
          <a:prstGeom prst="rect">
            <a:avLst/>
          </a:prstGeom>
          <a:solidFill>
            <a:srgbClr val="E4EDFA"/>
          </a:solidFill>
          <a:ln/>
        </p:spPr>
      </p:sp>
      <p:sp>
        <p:nvSpPr>
          <p:cNvPr id="19" name="Text 17"/>
          <p:cNvSpPr/>
          <p:nvPr/>
        </p:nvSpPr>
        <p:spPr>
          <a:xfrm>
            <a:off x="12903160" y="5981700"/>
            <a:ext cx="424692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Saída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903160" y="6515100"/>
            <a:ext cx="424692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Relatório de CVEs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19200" y="9220200"/>
            <a:ext cx="448175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Checkpoint 01 · DevSecOps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6685300" y="9220200"/>
            <a:ext cx="4597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74345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9200" y="1828800"/>
            <a:ext cx="174345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b="1" spc="-60" kern="0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Dependency-Check: limitação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219200" y="3657600"/>
            <a:ext cx="17434560" cy="2476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667"/>
              </a:lnSpc>
              <a:buNone/>
            </a:pPr>
            <a:r>
              <a:rPr lang="en-US" sz="19200" b="1" spc="-576" kern="0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398.697</a:t>
            </a:r>
            <a:endParaRPr lang="en-US" sz="19200" dirty="0"/>
          </a:p>
        </p:txBody>
      </p:sp>
      <p:sp>
        <p:nvSpPr>
          <p:cNvPr id="5" name="Text 3"/>
          <p:cNvSpPr/>
          <p:nvPr/>
        </p:nvSpPr>
        <p:spPr>
          <a:xfrm>
            <a:off x="1219200" y="6324600"/>
            <a:ext cx="174345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registros na base da NVD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19200" y="7391400"/>
            <a:ext cx="121920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7711440"/>
            <a:ext cx="125577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base da NVD exige chave de API e download demorado, o que torna a ferramenta dependente de rede e cache.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19200" y="9220200"/>
            <a:ext cx="448175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Checkpoint 01 · DevSecOps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779835" y="9220200"/>
            <a:ext cx="36516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712221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IaC Security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9200" y="1828800"/>
            <a:ext cx="712221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b="1" spc="-60" kern="0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Checkov: o que é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3258800" y="1676400"/>
            <a:ext cx="3810000" cy="10668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9941" b="-19941"/>
          <a:stretch/>
        </p:blipFill>
        <p:spPr>
          <a:xfrm>
            <a:off x="13258800" y="1676400"/>
            <a:ext cx="3810000" cy="1066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19200" y="3657600"/>
            <a:ext cx="1255776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Avalia políticas sobre um grafo de recursos de infraestrutura.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1219200" y="6842760"/>
            <a:ext cx="48768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8" name="Text 5"/>
          <p:cNvSpPr/>
          <p:nvPr/>
        </p:nvSpPr>
        <p:spPr>
          <a:xfrm>
            <a:off x="1219200" y="7086600"/>
            <a:ext cx="53644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Licença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219200" y="7620000"/>
            <a:ext cx="53644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Apache-2.0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6705600" y="6842760"/>
            <a:ext cx="48768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11" name="Text 8"/>
          <p:cNvSpPr/>
          <p:nvPr/>
        </p:nvSpPr>
        <p:spPr>
          <a:xfrm>
            <a:off x="6705600" y="7086600"/>
            <a:ext cx="53644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Escrito em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705600" y="7620000"/>
            <a:ext cx="53644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1219200" y="9220200"/>
            <a:ext cx="448175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Checkpoint 01 · DevSecOps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6873657" y="9220200"/>
            <a:ext cx="27134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74345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IaC Security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9200" y="1828800"/>
            <a:ext cx="174345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b="1" spc="-60" kern="0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Checkov: como funciona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219200" y="3505200"/>
            <a:ext cx="949955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Terraform · iac/main.tf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19200" y="4114800"/>
            <a:ext cx="8635961" cy="3813810"/>
          </a:xfrm>
          <a:prstGeom prst="rect">
            <a:avLst/>
          </a:prstGeom>
          <a:ln w="15240">
            <a:solidFill>
              <a:srgbClr val="D5E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39240" y="4434840"/>
            <a:ext cx="8254045" cy="4914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6596"/>
              </a:lnSpc>
              <a:buNone/>
            </a:pPr>
            <a:r>
              <a:rPr lang="en-US" sz="2100" dirty="0">
                <a:solidFill>
                  <a:srgbClr val="1C24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security_rule {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39240" y="4888230"/>
            <a:ext cx="8254045" cy="4914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6596"/>
              </a:lnSpc>
              <a:buNone/>
            </a:pPr>
            <a:r>
              <a:rPr lang="en-US" sz="2100" dirty="0">
                <a:solidFill>
                  <a:srgbClr val="1C24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name                   = "allow-ssh"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39240" y="5341620"/>
            <a:ext cx="8254045" cy="4914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6596"/>
              </a:lnSpc>
              <a:buNone/>
            </a:pPr>
            <a:r>
              <a:rPr lang="en-US" sz="2100" dirty="0">
                <a:solidFill>
                  <a:srgbClr val="1C24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direction              = "Inbound"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39240" y="5795010"/>
            <a:ext cx="8254045" cy="4914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6596"/>
              </a:lnSpc>
              <a:buNone/>
            </a:pPr>
            <a:r>
              <a:rPr lang="en-US" sz="2100" dirty="0">
                <a:solidFill>
                  <a:srgbClr val="1C24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access                 = "Allow"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539240" y="6248400"/>
            <a:ext cx="8254045" cy="4914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6596"/>
              </a:lnSpc>
              <a:buNone/>
            </a:pPr>
            <a:r>
              <a:rPr lang="en-US" sz="2100" dirty="0">
                <a:solidFill>
                  <a:srgbClr val="1C24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destination_port_range = "22"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234440" y="6701790"/>
            <a:ext cx="8605481" cy="453390"/>
          </a:xfrm>
          <a:prstGeom prst="rect">
            <a:avLst/>
          </a:prstGeom>
          <a:solidFill>
            <a:srgbClr val="E4EDFA"/>
          </a:solidFill>
          <a:ln/>
        </p:spPr>
      </p:sp>
      <p:sp>
        <p:nvSpPr>
          <p:cNvPr id="12" name="Text 10"/>
          <p:cNvSpPr/>
          <p:nvPr/>
        </p:nvSpPr>
        <p:spPr>
          <a:xfrm>
            <a:off x="1539240" y="6701790"/>
            <a:ext cx="8254045" cy="4914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6596"/>
              </a:lnSpc>
              <a:buNone/>
            </a:pPr>
            <a:r>
              <a:rPr lang="en-US" sz="2100" b="1" dirty="0">
                <a:solidFill>
                  <a:srgbClr val="0A2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source_address_prefix  = "*"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539240" y="7155180"/>
            <a:ext cx="8254045" cy="4914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6596"/>
              </a:lnSpc>
              <a:buNone/>
            </a:pPr>
            <a:r>
              <a:rPr lang="en-US" sz="2100" dirty="0">
                <a:solidFill>
                  <a:srgbClr val="1C24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159960" y="3505200"/>
            <a:ext cx="759972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Veredito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0159960" y="4114800"/>
            <a:ext cx="6908840" cy="3813810"/>
          </a:xfrm>
          <a:prstGeom prst="rect">
            <a:avLst/>
          </a:prstGeom>
          <a:solidFill>
            <a:srgbClr val="0A2A5E"/>
          </a:solidFill>
          <a:ln/>
        </p:spPr>
      </p:sp>
      <p:sp>
        <p:nvSpPr>
          <p:cNvPr id="16" name="Text 14"/>
          <p:cNvSpPr/>
          <p:nvPr/>
        </p:nvSpPr>
        <p:spPr>
          <a:xfrm>
            <a:off x="10617160" y="4572000"/>
            <a:ext cx="6593884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CKV_AZURE_10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617160" y="5204460"/>
            <a:ext cx="6593884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667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Reprovado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10617160" y="6195060"/>
            <a:ext cx="61742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4ED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Acesso SSH liberado a partir da internet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19200" y="9220200"/>
            <a:ext cx="448175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Checkpoint 01 · DevSecOps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795909" y="9220200"/>
            <a:ext cx="34909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74345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IaC Security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9200" y="1828800"/>
            <a:ext cx="174345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b="1" spc="-60" kern="0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Checkov: a limitação que encontramos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219200" y="3505200"/>
            <a:ext cx="7772400" cy="2491740"/>
          </a:xfrm>
          <a:prstGeom prst="rect">
            <a:avLst/>
          </a:prstGeom>
          <a:ln w="15240">
            <a:solidFill>
              <a:srgbClr val="D5E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91640" y="3977640"/>
            <a:ext cx="7510272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A2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source_address_prefix = "*"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91640" y="4762500"/>
            <a:ext cx="751027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667"/>
              </a:lnSpc>
              <a:buNone/>
            </a:pPr>
            <a:r>
              <a:rPr lang="en-US" sz="60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Reprovado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9296400" y="3505200"/>
            <a:ext cx="7772400" cy="2491740"/>
          </a:xfrm>
          <a:prstGeom prst="rect">
            <a:avLst/>
          </a:prstGeom>
          <a:solidFill>
            <a:srgbClr val="E4EDFA"/>
          </a:solidFill>
          <a:ln w="15240">
            <a:solidFill>
              <a:srgbClr val="2563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68840" y="3977640"/>
            <a:ext cx="7510272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A2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source_address_prefix = "0.0.0.0/0"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768840" y="4762500"/>
            <a:ext cx="751027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667"/>
              </a:lnSpc>
              <a:buNone/>
            </a:pPr>
            <a:r>
              <a:rPr lang="en-US" sz="60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Aprovado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1219200" y="6606540"/>
            <a:ext cx="174345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Mesma exposição, vereditos opostos. É um falso negativo.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19200" y="9220200"/>
            <a:ext cx="448175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Checkpoint 01 · DevSecOps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791623" y="9220200"/>
            <a:ext cx="35337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500248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9200" y="1828800"/>
            <a:ext cx="500248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b="1" spc="-60" kern="0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ZAP: o que é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3258800" y="1676400"/>
            <a:ext cx="3810000" cy="10668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19322" r="-19322" t="0" b="0"/>
          <a:stretch/>
        </p:blipFill>
        <p:spPr>
          <a:xfrm>
            <a:off x="13258800" y="1676400"/>
            <a:ext cx="3810000" cy="1066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19200" y="3657600"/>
            <a:ext cx="1255776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Scanner black-box que ataca a aplicação em execução.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1219200" y="6842760"/>
            <a:ext cx="48768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8" name="Text 5"/>
          <p:cNvSpPr/>
          <p:nvPr/>
        </p:nvSpPr>
        <p:spPr>
          <a:xfrm>
            <a:off x="1219200" y="7086600"/>
            <a:ext cx="53644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Licença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219200" y="7620000"/>
            <a:ext cx="53644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Apache-2.0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6705600" y="6842760"/>
            <a:ext cx="48768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11" name="Text 8"/>
          <p:cNvSpPr/>
          <p:nvPr/>
        </p:nvSpPr>
        <p:spPr>
          <a:xfrm>
            <a:off x="6705600" y="7086600"/>
            <a:ext cx="53644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 desde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705600" y="7620000"/>
            <a:ext cx="53644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2010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1219200" y="9220200"/>
            <a:ext cx="448175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Checkpoint 01 · DevSecOps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6779478" y="9220200"/>
            <a:ext cx="36552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74345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9200" y="1828800"/>
            <a:ext cx="174345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b="1" spc="-60" kern="0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ZAP: como funciona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219200" y="3657600"/>
            <a:ext cx="5181600" cy="3048000"/>
          </a:xfrm>
          <a:prstGeom prst="rect">
            <a:avLst/>
          </a:prstGeom>
          <a:solidFill>
            <a:srgbClr val="E4EDFA"/>
          </a:solidFill>
          <a:ln/>
        </p:spPr>
      </p:sp>
      <p:sp>
        <p:nvSpPr>
          <p:cNvPr id="5" name="Text 3"/>
          <p:cNvSpPr/>
          <p:nvPr/>
        </p:nvSpPr>
        <p:spPr>
          <a:xfrm>
            <a:off x="1676400" y="4114800"/>
            <a:ext cx="46939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76400" y="4800600"/>
            <a:ext cx="46939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Spider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676400" y="5715000"/>
            <a:ext cx="46939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descobre as URLs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553200" y="3657600"/>
            <a:ext cx="5181600" cy="3048000"/>
          </a:xfrm>
          <a:prstGeom prst="rect">
            <a:avLst/>
          </a:prstGeom>
          <a:solidFill>
            <a:srgbClr val="E4EDFA"/>
          </a:solidFill>
          <a:ln/>
        </p:spPr>
      </p:sp>
      <p:sp>
        <p:nvSpPr>
          <p:cNvPr id="9" name="Text 7"/>
          <p:cNvSpPr/>
          <p:nvPr/>
        </p:nvSpPr>
        <p:spPr>
          <a:xfrm>
            <a:off x="7010400" y="4114800"/>
            <a:ext cx="46939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010400" y="4800600"/>
            <a:ext cx="46939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Scan passivo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010400" y="5715000"/>
            <a:ext cx="46939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observa as respostas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0" y="3657600"/>
            <a:ext cx="5181600" cy="3048000"/>
          </a:xfrm>
          <a:prstGeom prst="rect">
            <a:avLst/>
          </a:prstGeom>
          <a:solidFill>
            <a:srgbClr val="0A2A5E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0" y="4114800"/>
            <a:ext cx="46939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4ED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344400" y="4800600"/>
            <a:ext cx="46939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Scan ativo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2344400" y="5715000"/>
            <a:ext cx="46939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injeta payloads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19200" y="7315200"/>
            <a:ext cx="174345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Apenas o scan ativo encontra XSS.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19200" y="9220200"/>
            <a:ext cx="448175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Checkpoint 01 · DevSecOps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779835" y="9220200"/>
            <a:ext cx="36516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74345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9200" y="1828800"/>
            <a:ext cx="174345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b="1" spc="-60" kern="0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ZAP: o gate por severidade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219200" y="3352800"/>
            <a:ext cx="7772400" cy="4297680"/>
          </a:xfrm>
          <a:prstGeom prst="rect">
            <a:avLst/>
          </a:prstGeom>
          <a:ln w="15240">
            <a:solidFill>
              <a:srgbClr val="D5E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91640" y="3749040"/>
            <a:ext cx="751027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Script empacotado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91640" y="4358640"/>
            <a:ext cx="751027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alertas de risco alto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91640" y="5120640"/>
            <a:ext cx="7510272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667"/>
              </a:lnSpc>
              <a:buNone/>
            </a:pPr>
            <a:r>
              <a:rPr lang="en-US" sz="120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1691640" y="6797040"/>
            <a:ext cx="751027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código de saída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296400" y="3352800"/>
            <a:ext cx="7772400" cy="4297680"/>
          </a:xfrm>
          <a:prstGeom prst="rect">
            <a:avLst/>
          </a:prstGeom>
          <a:solidFill>
            <a:srgbClr val="E4EDFA"/>
          </a:solidFill>
          <a:ln w="15240">
            <a:solidFill>
              <a:srgbClr val="2563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68840" y="3749040"/>
            <a:ext cx="751027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Plano de automação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768840" y="4358640"/>
            <a:ext cx="7510272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errorLevel: High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768840" y="5067300"/>
            <a:ext cx="7510272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667"/>
              </a:lnSpc>
              <a:buNone/>
            </a:pPr>
            <a:r>
              <a:rPr lang="en-US" sz="120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2000" dirty="0"/>
          </a:p>
        </p:txBody>
      </p:sp>
      <p:sp>
        <p:nvSpPr>
          <p:cNvPr id="13" name="Text 11"/>
          <p:cNvSpPr/>
          <p:nvPr/>
        </p:nvSpPr>
        <p:spPr>
          <a:xfrm>
            <a:off x="9768840" y="6743700"/>
            <a:ext cx="751027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código de saída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19200" y="8107680"/>
            <a:ext cx="174345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Só a segunda forma quebra o build por criticidade.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19200" y="9220200"/>
            <a:ext cx="448175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Checkpoint 01 · DevSecOps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777692" y="9220200"/>
            <a:ext cx="36730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74345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Laboratório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9200" y="1828800"/>
            <a:ext cx="174345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b="1" spc="-60" kern="0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Laboratório: como funciona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219200" y="3352800"/>
            <a:ext cx="15849600" cy="967740"/>
          </a:xfrm>
          <a:prstGeom prst="rect">
            <a:avLst/>
          </a:prstGeom>
          <a:solidFill>
            <a:srgbClr val="0A2A5E"/>
          </a:solidFill>
          <a:ln/>
        </p:spPr>
      </p:sp>
      <p:sp>
        <p:nvSpPr>
          <p:cNvPr id="5" name="Text 3"/>
          <p:cNvSpPr/>
          <p:nvPr/>
        </p:nvSpPr>
        <p:spPr>
          <a:xfrm>
            <a:off x="1676400" y="3657600"/>
            <a:ext cx="1541068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clone https://github.com/org-cloud-security/cp01-devsecops.fiap.git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219200" y="5082540"/>
            <a:ext cx="3048000" cy="76200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5387340"/>
            <a:ext cx="3352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19200" y="5920740"/>
            <a:ext cx="3352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Checkov reprova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419600" y="5082540"/>
            <a:ext cx="3048000" cy="76200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10" name="Text 8"/>
          <p:cNvSpPr/>
          <p:nvPr/>
        </p:nvSpPr>
        <p:spPr>
          <a:xfrm>
            <a:off x="4419600" y="5387340"/>
            <a:ext cx="3352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419600" y="5920740"/>
            <a:ext cx="31394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Correção do Terraform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620000" y="5082540"/>
            <a:ext cx="3048000" cy="76200"/>
          </a:xfrm>
          <a:prstGeom prst="rect">
            <a:avLst/>
          </a:prstGeom>
          <a:solidFill>
            <a:srgbClr val="0A2A5E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0" y="5387340"/>
            <a:ext cx="3352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20000" y="5920740"/>
            <a:ext cx="3352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ZAP alerta risco alto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0820400" y="5082540"/>
            <a:ext cx="3048000" cy="76200"/>
          </a:xfrm>
          <a:prstGeom prst="rect">
            <a:avLst/>
          </a:prstGeom>
          <a:solidFill>
            <a:srgbClr val="0A2A5E"/>
          </a:solidFill>
          <a:ln/>
        </p:spPr>
      </p:sp>
      <p:sp>
        <p:nvSpPr>
          <p:cNvPr id="16" name="Text 14"/>
          <p:cNvSpPr/>
          <p:nvPr/>
        </p:nvSpPr>
        <p:spPr>
          <a:xfrm>
            <a:off x="10820400" y="5387340"/>
            <a:ext cx="3352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820400" y="5920740"/>
            <a:ext cx="31394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Correção da aplicação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4020800" y="5082540"/>
            <a:ext cx="3048000" cy="7620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19" name="Text 17"/>
          <p:cNvSpPr/>
          <p:nvPr/>
        </p:nvSpPr>
        <p:spPr>
          <a:xfrm>
            <a:off x="14020800" y="5387340"/>
            <a:ext cx="3352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4020800" y="5920740"/>
            <a:ext cx="31394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Encerrar o ambiente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19200" y="7444740"/>
            <a:ext cx="174345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turma executa junto. Pré-requisitos: Docker, Docker Compose e Git.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19200" y="9220200"/>
            <a:ext cx="448175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Checkpoint 01 · DevSecOps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6804838" y="9220200"/>
            <a:ext cx="34016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74345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Laboratório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9200" y="1828800"/>
            <a:ext cx="174345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b="1" spc="-60" kern="0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1 e 2, Checkov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219200" y="3352800"/>
            <a:ext cx="7772400" cy="4198620"/>
          </a:xfrm>
          <a:prstGeom prst="rect">
            <a:avLst/>
          </a:prstGeom>
          <a:ln w="15240">
            <a:solidFill>
              <a:srgbClr val="D5E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91640" y="3749040"/>
            <a:ext cx="751027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1 · Reprovado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91640" y="4358640"/>
            <a:ext cx="7510272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A2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source_address_prefix = "*"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691640" y="5021580"/>
            <a:ext cx="7510272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667"/>
              </a:lnSpc>
              <a:buNone/>
            </a:pPr>
            <a:r>
              <a:rPr lang="en-US" sz="120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1691640" y="6697980"/>
            <a:ext cx="751027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código de saída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296400" y="3352800"/>
            <a:ext cx="7772400" cy="4198620"/>
          </a:xfrm>
          <a:prstGeom prst="rect">
            <a:avLst/>
          </a:prstGeom>
          <a:solidFill>
            <a:srgbClr val="E4EDFA"/>
          </a:solidFill>
          <a:ln w="15240">
            <a:solidFill>
              <a:srgbClr val="2563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68840" y="3749040"/>
            <a:ext cx="751027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2 · Aprovado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768840" y="4358640"/>
            <a:ext cx="7510272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A2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source_address_prefix = "10.0.0.0/24"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768840" y="5021580"/>
            <a:ext cx="7510272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667"/>
              </a:lnSpc>
              <a:buNone/>
            </a:pPr>
            <a:r>
              <a:rPr lang="en-US" sz="120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12000" dirty="0"/>
          </a:p>
        </p:txBody>
      </p:sp>
      <p:sp>
        <p:nvSpPr>
          <p:cNvPr id="13" name="Text 11"/>
          <p:cNvSpPr/>
          <p:nvPr/>
        </p:nvSpPr>
        <p:spPr>
          <a:xfrm>
            <a:off x="9768840" y="6697980"/>
            <a:ext cx="751027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código de saída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19200" y="8008620"/>
            <a:ext cx="174345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linha alterada em iac/main.tf. Depois da correção: 4 checks aprovados, 0 reprovados.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19200" y="9220200"/>
            <a:ext cx="448175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Checkpoint 01 · DevSecOps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778883" y="9220200"/>
            <a:ext cx="36611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74345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Laboratório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9200" y="1828800"/>
            <a:ext cx="174345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b="1" spc="-60" kern="0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3 e 4, ZAP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219200" y="3352800"/>
            <a:ext cx="7772400" cy="4145280"/>
          </a:xfrm>
          <a:prstGeom prst="rect">
            <a:avLst/>
          </a:prstGeom>
          <a:ln w="15240">
            <a:solidFill>
              <a:srgbClr val="D5E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91640" y="3749040"/>
            <a:ext cx="751027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3 · Alerta de risco alto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91640" y="4358640"/>
            <a:ext cx="75102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A2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res.send("Hello, " + req.query.name)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4968240"/>
            <a:ext cx="7510272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667"/>
              </a:lnSpc>
              <a:buNone/>
            </a:pPr>
            <a:r>
              <a:rPr lang="en-US" sz="120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1691640" y="6644640"/>
            <a:ext cx="751027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código de saída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296400" y="3352800"/>
            <a:ext cx="7772400" cy="4145280"/>
          </a:xfrm>
          <a:prstGeom prst="rect">
            <a:avLst/>
          </a:prstGeom>
          <a:solidFill>
            <a:srgbClr val="E4EDFA"/>
          </a:solidFill>
          <a:ln w="15240">
            <a:solidFill>
              <a:srgbClr val="2563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68840" y="3749040"/>
            <a:ext cx="751027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4 · Plano bem-sucedido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768840" y="4358640"/>
            <a:ext cx="75102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A2A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res.type("text").send("Hello, " + req.query.name)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68840" y="4968240"/>
            <a:ext cx="7510272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667"/>
              </a:lnSpc>
              <a:buNone/>
            </a:pPr>
            <a:r>
              <a:rPr lang="en-US" sz="120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12000" dirty="0"/>
          </a:p>
        </p:txBody>
      </p:sp>
      <p:sp>
        <p:nvSpPr>
          <p:cNvPr id="13" name="Text 11"/>
          <p:cNvSpPr/>
          <p:nvPr/>
        </p:nvSpPr>
        <p:spPr>
          <a:xfrm>
            <a:off x="9768840" y="6644640"/>
            <a:ext cx="751027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código de saída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19200" y="7955280"/>
            <a:ext cx="174345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linha alterada em app/index.js: a resposta passa a ser texto puro.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19200" y="9220200"/>
            <a:ext cx="448175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Checkpoint 01 · DevSecOps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779240" y="9220200"/>
            <a:ext cx="3657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74345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Laboratório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9200" y="1828800"/>
            <a:ext cx="174345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b="1" spc="-60" kern="0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Perguntas de verificação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219200" y="3505200"/>
            <a:ext cx="134112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667"/>
              </a:lnSpc>
              <a:buNone/>
            </a:pPr>
            <a:r>
              <a:rPr lang="en-US" sz="60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438400" y="3649980"/>
            <a:ext cx="1255776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Qual o ID do check que o Checkov reprovou, e quantos checks passaram depois da correção?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19200" y="5478780"/>
            <a:ext cx="134112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667"/>
              </a:lnSpc>
              <a:buNone/>
            </a:pPr>
            <a:r>
              <a:rPr lang="en-US" sz="60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2438400" y="5623560"/>
            <a:ext cx="1255776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Quantos alertas de risco High o ZAP levantou antes da correção, e qual o CWE do XSS refletido?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219200" y="9220200"/>
            <a:ext cx="448175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Checkpoint 01 · DevSecOps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702088" y="9220200"/>
            <a:ext cx="44291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74345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Conclusão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9200" y="1828800"/>
            <a:ext cx="174345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b="1" spc="-60" kern="0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Quadro comparativo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219200" y="3352800"/>
            <a:ext cx="3531870" cy="495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Ferramenta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800600" y="3352800"/>
            <a:ext cx="2137172" cy="495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Categoria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166372" y="3352800"/>
            <a:ext cx="2984867" cy="495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Licença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360223" y="3352800"/>
            <a:ext cx="2137291" cy="495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no ar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726115" y="3352800"/>
            <a:ext cx="2375619" cy="495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Severidade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328463" y="3352800"/>
            <a:ext cx="1664137" cy="495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SARIF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19200" y="4038600"/>
            <a:ext cx="3429000" cy="15240"/>
          </a:xfrm>
          <a:prstGeom prst="rect">
            <a:avLst/>
          </a:prstGeom>
          <a:solidFill>
            <a:srgbClr val="0A2A5E"/>
          </a:solidFill>
          <a:ln/>
        </p:spPr>
      </p:sp>
      <p:sp>
        <p:nvSpPr>
          <p:cNvPr id="11" name="Shape 9"/>
          <p:cNvSpPr/>
          <p:nvPr/>
        </p:nvSpPr>
        <p:spPr>
          <a:xfrm>
            <a:off x="1219200" y="4320540"/>
            <a:ext cx="1524000" cy="5334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-24765" r="-24765" t="0" b="0"/>
          <a:stretch/>
        </p:blipFill>
        <p:spPr>
          <a:xfrm>
            <a:off x="1219200" y="4320540"/>
            <a:ext cx="1524000" cy="5334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648200" y="4038600"/>
            <a:ext cx="2365772" cy="15240"/>
          </a:xfrm>
          <a:prstGeom prst="rect">
            <a:avLst/>
          </a:prstGeom>
          <a:solidFill>
            <a:srgbClr val="0A2A5E"/>
          </a:solidFill>
          <a:ln/>
        </p:spPr>
      </p:sp>
      <p:sp>
        <p:nvSpPr>
          <p:cNvPr id="14" name="Text 11"/>
          <p:cNvSpPr/>
          <p:nvPr/>
        </p:nvSpPr>
        <p:spPr>
          <a:xfrm>
            <a:off x="4800600" y="4053840"/>
            <a:ext cx="2137172" cy="1104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SAST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7013972" y="4038600"/>
            <a:ext cx="3193852" cy="15240"/>
          </a:xfrm>
          <a:prstGeom prst="rect">
            <a:avLst/>
          </a:prstGeom>
          <a:solidFill>
            <a:srgbClr val="0A2A5E"/>
          </a:solidFill>
          <a:ln/>
        </p:spPr>
      </p:sp>
      <p:sp>
        <p:nvSpPr>
          <p:cNvPr id="16" name="Text 13"/>
          <p:cNvSpPr/>
          <p:nvPr/>
        </p:nvSpPr>
        <p:spPr>
          <a:xfrm>
            <a:off x="7166372" y="4053840"/>
            <a:ext cx="2984867" cy="1104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LGPL-2.1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10207823" y="4038600"/>
            <a:ext cx="2365891" cy="15240"/>
          </a:xfrm>
          <a:prstGeom prst="rect">
            <a:avLst/>
          </a:prstGeom>
          <a:solidFill>
            <a:srgbClr val="0A2A5E"/>
          </a:solidFill>
          <a:ln/>
        </p:spPr>
      </p:sp>
      <p:sp>
        <p:nvSpPr>
          <p:cNvPr id="18" name="Text 15"/>
          <p:cNvSpPr/>
          <p:nvPr/>
        </p:nvSpPr>
        <p:spPr>
          <a:xfrm>
            <a:off x="10360223" y="4053840"/>
            <a:ext cx="2137291" cy="1104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2573715" y="4038600"/>
            <a:ext cx="2602349" cy="15240"/>
          </a:xfrm>
          <a:prstGeom prst="rect">
            <a:avLst/>
          </a:prstGeom>
          <a:solidFill>
            <a:srgbClr val="0A2A5E"/>
          </a:solidFill>
          <a:ln/>
        </p:spPr>
      </p:sp>
      <p:sp>
        <p:nvSpPr>
          <p:cNvPr id="20" name="Text 17"/>
          <p:cNvSpPr/>
          <p:nvPr/>
        </p:nvSpPr>
        <p:spPr>
          <a:xfrm>
            <a:off x="12726115" y="4053840"/>
            <a:ext cx="2375619" cy="1104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15176063" y="4038600"/>
            <a:ext cx="1892737" cy="15240"/>
          </a:xfrm>
          <a:prstGeom prst="rect">
            <a:avLst/>
          </a:prstGeom>
          <a:solidFill>
            <a:srgbClr val="0A2A5E"/>
          </a:solidFill>
          <a:ln/>
        </p:spPr>
      </p:sp>
      <p:sp>
        <p:nvSpPr>
          <p:cNvPr id="22" name="Text 19"/>
          <p:cNvSpPr/>
          <p:nvPr/>
        </p:nvSpPr>
        <p:spPr>
          <a:xfrm>
            <a:off x="15328463" y="4053840"/>
            <a:ext cx="1664137" cy="1104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1219200" y="5120640"/>
            <a:ext cx="34290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24" name="Shape 21"/>
          <p:cNvSpPr/>
          <p:nvPr/>
        </p:nvSpPr>
        <p:spPr>
          <a:xfrm>
            <a:off x="1219200" y="5402580"/>
            <a:ext cx="1524000" cy="5334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287" b="-287"/>
          <a:stretch/>
        </p:blipFill>
        <p:spPr>
          <a:xfrm>
            <a:off x="1219200" y="5402580"/>
            <a:ext cx="1524000" cy="53340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4648200" y="5120640"/>
            <a:ext cx="2365772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27" name="Text 23"/>
          <p:cNvSpPr/>
          <p:nvPr/>
        </p:nvSpPr>
        <p:spPr>
          <a:xfrm>
            <a:off x="4800600" y="5135880"/>
            <a:ext cx="2137172" cy="1104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</a:t>
            </a:r>
            <a:endParaRPr lang="en-US" sz="2400" dirty="0"/>
          </a:p>
        </p:txBody>
      </p:sp>
      <p:sp>
        <p:nvSpPr>
          <p:cNvPr id="28" name="Shape 24"/>
          <p:cNvSpPr/>
          <p:nvPr/>
        </p:nvSpPr>
        <p:spPr>
          <a:xfrm>
            <a:off x="7013972" y="5120640"/>
            <a:ext cx="3193852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29" name="Text 25"/>
          <p:cNvSpPr/>
          <p:nvPr/>
        </p:nvSpPr>
        <p:spPr>
          <a:xfrm>
            <a:off x="7166372" y="5135880"/>
            <a:ext cx="2984867" cy="1104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Apache-2.0</a:t>
            </a:r>
            <a:endParaRPr lang="en-US" sz="2400" dirty="0"/>
          </a:p>
        </p:txBody>
      </p:sp>
      <p:sp>
        <p:nvSpPr>
          <p:cNvPr id="30" name="Shape 26"/>
          <p:cNvSpPr/>
          <p:nvPr/>
        </p:nvSpPr>
        <p:spPr>
          <a:xfrm>
            <a:off x="10207823" y="5120640"/>
            <a:ext cx="2365891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31" name="Text 27"/>
          <p:cNvSpPr/>
          <p:nvPr/>
        </p:nvSpPr>
        <p:spPr>
          <a:xfrm>
            <a:off x="10360223" y="5135880"/>
            <a:ext cx="2137291" cy="1104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</a:t>
            </a:r>
            <a:endParaRPr lang="en-US" sz="2400" dirty="0"/>
          </a:p>
        </p:txBody>
      </p:sp>
      <p:sp>
        <p:nvSpPr>
          <p:cNvPr id="32" name="Shape 28"/>
          <p:cNvSpPr/>
          <p:nvPr/>
        </p:nvSpPr>
        <p:spPr>
          <a:xfrm>
            <a:off x="12573715" y="5120640"/>
            <a:ext cx="2602349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33" name="Text 29"/>
          <p:cNvSpPr/>
          <p:nvPr/>
        </p:nvSpPr>
        <p:spPr>
          <a:xfrm>
            <a:off x="12726115" y="5135880"/>
            <a:ext cx="2375619" cy="1104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</a:t>
            </a:r>
            <a:endParaRPr lang="en-US" sz="2400" dirty="0"/>
          </a:p>
        </p:txBody>
      </p:sp>
      <p:sp>
        <p:nvSpPr>
          <p:cNvPr id="34" name="Shape 30"/>
          <p:cNvSpPr/>
          <p:nvPr/>
        </p:nvSpPr>
        <p:spPr>
          <a:xfrm>
            <a:off x="15176063" y="5120640"/>
            <a:ext cx="1892737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35" name="Text 31"/>
          <p:cNvSpPr/>
          <p:nvPr/>
        </p:nvSpPr>
        <p:spPr>
          <a:xfrm>
            <a:off x="15328463" y="5135880"/>
            <a:ext cx="1664137" cy="1104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</a:t>
            </a:r>
            <a:endParaRPr lang="en-US" sz="2400" dirty="0"/>
          </a:p>
        </p:txBody>
      </p:sp>
      <p:sp>
        <p:nvSpPr>
          <p:cNvPr id="36" name="Shape 32"/>
          <p:cNvSpPr/>
          <p:nvPr/>
        </p:nvSpPr>
        <p:spPr>
          <a:xfrm>
            <a:off x="1219200" y="6202680"/>
            <a:ext cx="34290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37" name="Shape 33"/>
          <p:cNvSpPr/>
          <p:nvPr/>
        </p:nvSpPr>
        <p:spPr>
          <a:xfrm>
            <a:off x="1219200" y="6484620"/>
            <a:ext cx="1524000" cy="5334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37426" b="-37426"/>
          <a:stretch/>
        </p:blipFill>
        <p:spPr>
          <a:xfrm>
            <a:off x="1219200" y="6484620"/>
            <a:ext cx="1524000" cy="533400"/>
          </a:xfrm>
          <a:prstGeom prst="rect">
            <a:avLst/>
          </a:prstGeom>
        </p:spPr>
      </p:pic>
      <p:sp>
        <p:nvSpPr>
          <p:cNvPr id="39" name="Shape 34"/>
          <p:cNvSpPr/>
          <p:nvPr/>
        </p:nvSpPr>
        <p:spPr>
          <a:xfrm>
            <a:off x="4648200" y="6202680"/>
            <a:ext cx="2365772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40" name="Text 35"/>
          <p:cNvSpPr/>
          <p:nvPr/>
        </p:nvSpPr>
        <p:spPr>
          <a:xfrm>
            <a:off x="4800600" y="6217920"/>
            <a:ext cx="2137172" cy="1104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IaC</a:t>
            </a:r>
            <a:endParaRPr lang="en-US" sz="2400" dirty="0"/>
          </a:p>
        </p:txBody>
      </p:sp>
      <p:sp>
        <p:nvSpPr>
          <p:cNvPr id="41" name="Shape 36"/>
          <p:cNvSpPr/>
          <p:nvPr/>
        </p:nvSpPr>
        <p:spPr>
          <a:xfrm>
            <a:off x="7013972" y="6202680"/>
            <a:ext cx="3193852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42" name="Text 37"/>
          <p:cNvSpPr/>
          <p:nvPr/>
        </p:nvSpPr>
        <p:spPr>
          <a:xfrm>
            <a:off x="7166372" y="6217920"/>
            <a:ext cx="2984867" cy="1104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Apache-2.0</a:t>
            </a:r>
            <a:endParaRPr lang="en-US" sz="2400" dirty="0"/>
          </a:p>
        </p:txBody>
      </p:sp>
      <p:sp>
        <p:nvSpPr>
          <p:cNvPr id="43" name="Shape 38"/>
          <p:cNvSpPr/>
          <p:nvPr/>
        </p:nvSpPr>
        <p:spPr>
          <a:xfrm>
            <a:off x="10207823" y="6202680"/>
            <a:ext cx="2365891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44" name="Text 39"/>
          <p:cNvSpPr/>
          <p:nvPr/>
        </p:nvSpPr>
        <p:spPr>
          <a:xfrm>
            <a:off x="10360223" y="6217920"/>
            <a:ext cx="2137291" cy="1104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</a:t>
            </a:r>
            <a:endParaRPr lang="en-US" sz="2400" dirty="0"/>
          </a:p>
        </p:txBody>
      </p:sp>
      <p:sp>
        <p:nvSpPr>
          <p:cNvPr id="45" name="Shape 40"/>
          <p:cNvSpPr/>
          <p:nvPr/>
        </p:nvSpPr>
        <p:spPr>
          <a:xfrm>
            <a:off x="12573715" y="6202680"/>
            <a:ext cx="2602349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46" name="Text 41"/>
          <p:cNvSpPr/>
          <p:nvPr/>
        </p:nvSpPr>
        <p:spPr>
          <a:xfrm>
            <a:off x="12726115" y="6217920"/>
            <a:ext cx="2375619" cy="1104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</a:t>
            </a:r>
            <a:endParaRPr lang="en-US" sz="2400" dirty="0"/>
          </a:p>
        </p:txBody>
      </p:sp>
      <p:sp>
        <p:nvSpPr>
          <p:cNvPr id="47" name="Shape 42"/>
          <p:cNvSpPr/>
          <p:nvPr/>
        </p:nvSpPr>
        <p:spPr>
          <a:xfrm>
            <a:off x="15176063" y="6202680"/>
            <a:ext cx="1892737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48" name="Text 43"/>
          <p:cNvSpPr/>
          <p:nvPr/>
        </p:nvSpPr>
        <p:spPr>
          <a:xfrm>
            <a:off x="15328463" y="6217920"/>
            <a:ext cx="1664137" cy="1104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</a:t>
            </a:r>
            <a:endParaRPr lang="en-US" sz="2400" dirty="0"/>
          </a:p>
        </p:txBody>
      </p:sp>
      <p:sp>
        <p:nvSpPr>
          <p:cNvPr id="49" name="Shape 44"/>
          <p:cNvSpPr/>
          <p:nvPr/>
        </p:nvSpPr>
        <p:spPr>
          <a:xfrm>
            <a:off x="1219200" y="8366760"/>
            <a:ext cx="34290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50" name="Shape 45"/>
          <p:cNvSpPr/>
          <p:nvPr/>
        </p:nvSpPr>
        <p:spPr>
          <a:xfrm>
            <a:off x="1219200" y="7284720"/>
            <a:ext cx="34290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51" name="Shape 46"/>
          <p:cNvSpPr/>
          <p:nvPr/>
        </p:nvSpPr>
        <p:spPr>
          <a:xfrm>
            <a:off x="1219200" y="7566660"/>
            <a:ext cx="1524000" cy="5334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rcRect l="-5458" r="-5458" t="0" b="0"/>
          <a:stretch/>
        </p:blipFill>
        <p:spPr>
          <a:xfrm>
            <a:off x="1219200" y="7566660"/>
            <a:ext cx="1524000" cy="533400"/>
          </a:xfrm>
          <a:prstGeom prst="rect">
            <a:avLst/>
          </a:prstGeom>
        </p:spPr>
      </p:pic>
      <p:sp>
        <p:nvSpPr>
          <p:cNvPr id="53" name="Shape 47"/>
          <p:cNvSpPr/>
          <p:nvPr/>
        </p:nvSpPr>
        <p:spPr>
          <a:xfrm>
            <a:off x="4648200" y="8366760"/>
            <a:ext cx="2365772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54" name="Shape 48"/>
          <p:cNvSpPr/>
          <p:nvPr/>
        </p:nvSpPr>
        <p:spPr>
          <a:xfrm>
            <a:off x="4648200" y="7284720"/>
            <a:ext cx="2365772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55" name="Text 49"/>
          <p:cNvSpPr/>
          <p:nvPr/>
        </p:nvSpPr>
        <p:spPr>
          <a:xfrm>
            <a:off x="4800600" y="7299960"/>
            <a:ext cx="2137172" cy="1104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DAST</a:t>
            </a:r>
            <a:endParaRPr lang="en-US" sz="2400" dirty="0"/>
          </a:p>
        </p:txBody>
      </p:sp>
      <p:sp>
        <p:nvSpPr>
          <p:cNvPr id="56" name="Shape 50"/>
          <p:cNvSpPr/>
          <p:nvPr/>
        </p:nvSpPr>
        <p:spPr>
          <a:xfrm>
            <a:off x="7013972" y="8366760"/>
            <a:ext cx="3193852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57" name="Shape 51"/>
          <p:cNvSpPr/>
          <p:nvPr/>
        </p:nvSpPr>
        <p:spPr>
          <a:xfrm>
            <a:off x="7013972" y="7284720"/>
            <a:ext cx="3193852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58" name="Text 52"/>
          <p:cNvSpPr/>
          <p:nvPr/>
        </p:nvSpPr>
        <p:spPr>
          <a:xfrm>
            <a:off x="7166372" y="7299960"/>
            <a:ext cx="2984867" cy="1104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Apache-2.0</a:t>
            </a:r>
            <a:endParaRPr lang="en-US" sz="2400" dirty="0"/>
          </a:p>
        </p:txBody>
      </p:sp>
      <p:sp>
        <p:nvSpPr>
          <p:cNvPr id="59" name="Shape 53"/>
          <p:cNvSpPr/>
          <p:nvPr/>
        </p:nvSpPr>
        <p:spPr>
          <a:xfrm>
            <a:off x="10207823" y="7284720"/>
            <a:ext cx="2365891" cy="1097280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60" name="Shape 54"/>
          <p:cNvSpPr/>
          <p:nvPr/>
        </p:nvSpPr>
        <p:spPr>
          <a:xfrm>
            <a:off x="10207823" y="8366760"/>
            <a:ext cx="2365891" cy="15240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61" name="Shape 55"/>
          <p:cNvSpPr/>
          <p:nvPr/>
        </p:nvSpPr>
        <p:spPr>
          <a:xfrm>
            <a:off x="10207823" y="7284720"/>
            <a:ext cx="2365891" cy="15240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62" name="Text 56"/>
          <p:cNvSpPr/>
          <p:nvPr/>
        </p:nvSpPr>
        <p:spPr>
          <a:xfrm>
            <a:off x="10360223" y="7299960"/>
            <a:ext cx="2137291" cy="1104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</a:t>
            </a:r>
            <a:endParaRPr lang="en-US" sz="2400" dirty="0"/>
          </a:p>
        </p:txBody>
      </p:sp>
      <p:sp>
        <p:nvSpPr>
          <p:cNvPr id="63" name="Shape 57"/>
          <p:cNvSpPr/>
          <p:nvPr/>
        </p:nvSpPr>
        <p:spPr>
          <a:xfrm>
            <a:off x="12573715" y="8366760"/>
            <a:ext cx="2602349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64" name="Shape 58"/>
          <p:cNvSpPr/>
          <p:nvPr/>
        </p:nvSpPr>
        <p:spPr>
          <a:xfrm>
            <a:off x="12573715" y="7284720"/>
            <a:ext cx="2602349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65" name="Text 59"/>
          <p:cNvSpPr/>
          <p:nvPr/>
        </p:nvSpPr>
        <p:spPr>
          <a:xfrm>
            <a:off x="12726115" y="7299960"/>
            <a:ext cx="2375619" cy="1104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</a:t>
            </a:r>
            <a:endParaRPr lang="en-US" sz="2400" dirty="0"/>
          </a:p>
        </p:txBody>
      </p:sp>
      <p:sp>
        <p:nvSpPr>
          <p:cNvPr id="66" name="Shape 60"/>
          <p:cNvSpPr/>
          <p:nvPr/>
        </p:nvSpPr>
        <p:spPr>
          <a:xfrm>
            <a:off x="15176063" y="8366760"/>
            <a:ext cx="1892737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67" name="Shape 61"/>
          <p:cNvSpPr/>
          <p:nvPr/>
        </p:nvSpPr>
        <p:spPr>
          <a:xfrm>
            <a:off x="15176063" y="7284720"/>
            <a:ext cx="1892737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68" name="Text 62"/>
          <p:cNvSpPr/>
          <p:nvPr/>
        </p:nvSpPr>
        <p:spPr>
          <a:xfrm>
            <a:off x="15328463" y="7299960"/>
            <a:ext cx="1664137" cy="1104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</a:t>
            </a:r>
            <a:endParaRPr lang="en-US" sz="2400" dirty="0"/>
          </a:p>
        </p:txBody>
      </p:sp>
      <p:sp>
        <p:nvSpPr>
          <p:cNvPr id="69" name="Text 63"/>
          <p:cNvSpPr/>
          <p:nvPr/>
        </p:nvSpPr>
        <p:spPr>
          <a:xfrm>
            <a:off x="1219200" y="9220200"/>
            <a:ext cx="448175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Checkpoint 01 · DevSecOps</a:t>
            </a:r>
            <a:endParaRPr lang="en-US" sz="2400" dirty="0"/>
          </a:p>
        </p:txBody>
      </p:sp>
      <p:sp>
        <p:nvSpPr>
          <p:cNvPr id="70" name="Text 64"/>
          <p:cNvSpPr/>
          <p:nvPr/>
        </p:nvSpPr>
        <p:spPr>
          <a:xfrm>
            <a:off x="16795909" y="9220200"/>
            <a:ext cx="34909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74345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Conclusão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9200" y="1828800"/>
            <a:ext cx="174345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b="1" spc="-60" kern="0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convergência</a:t>
            </a:r>
            <a:endParaRPr lang="en-US" sz="6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9200" y="3048000"/>
            <a:ext cx="158496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19200" y="3048000"/>
            <a:ext cx="6096000" cy="1524000"/>
          </a:xfrm>
          <a:prstGeom prst="rect">
            <a:avLst/>
          </a:prstGeom>
          <a:solidFill>
            <a:srgbClr val="E4EDFA"/>
          </a:solidFill>
          <a:ln/>
        </p:spPr>
      </p:sp>
      <p:sp>
        <p:nvSpPr>
          <p:cNvPr id="6" name="Text 3"/>
          <p:cNvSpPr/>
          <p:nvPr/>
        </p:nvSpPr>
        <p:spPr>
          <a:xfrm>
            <a:off x="1600200" y="3200400"/>
            <a:ext cx="58674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Semgrep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600200" y="3962400"/>
            <a:ext cx="5867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lendo o código parado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219200" y="6096000"/>
            <a:ext cx="6096000" cy="1524000"/>
          </a:xfrm>
          <a:prstGeom prst="rect">
            <a:avLst/>
          </a:prstGeom>
          <a:solidFill>
            <a:srgbClr val="E4EDFA"/>
          </a:solidFill>
          <a:ln/>
        </p:spPr>
      </p:sp>
      <p:sp>
        <p:nvSpPr>
          <p:cNvPr id="9" name="Text 6"/>
          <p:cNvSpPr/>
          <p:nvPr/>
        </p:nvSpPr>
        <p:spPr>
          <a:xfrm>
            <a:off x="1600200" y="6248400"/>
            <a:ext cx="58674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ZAP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1600200" y="7010400"/>
            <a:ext cx="5867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atacando a aplicação no ar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12687300" y="3238500"/>
            <a:ext cx="4191000" cy="4191000"/>
          </a:xfrm>
          <a:prstGeom prst="ellipse">
            <a:avLst/>
          </a:prstGeom>
          <a:solidFill>
            <a:srgbClr val="0A2A5E"/>
          </a:solidFill>
          <a:ln/>
        </p:spPr>
      </p:sp>
      <p:sp>
        <p:nvSpPr>
          <p:cNvPr id="12" name="Text 9"/>
          <p:cNvSpPr/>
          <p:nvPr/>
        </p:nvSpPr>
        <p:spPr>
          <a:xfrm>
            <a:off x="12916852" y="4610100"/>
            <a:ext cx="410495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667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CWE-79</a:t>
            </a:r>
            <a:endParaRPr lang="en-US" sz="7200" dirty="0"/>
          </a:p>
        </p:txBody>
      </p:sp>
      <p:sp>
        <p:nvSpPr>
          <p:cNvPr id="13" name="Text 10"/>
          <p:cNvSpPr/>
          <p:nvPr/>
        </p:nvSpPr>
        <p:spPr>
          <a:xfrm>
            <a:off x="13297020" y="5600700"/>
            <a:ext cx="326871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4ED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Cross-site scripting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219200" y="7924800"/>
            <a:ext cx="174345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mesmo achado, por caminhos independentes.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219200" y="9220200"/>
            <a:ext cx="448175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Checkpoint 01 · DevSecOps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6718281" y="9220200"/>
            <a:ext cx="4267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74345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Conclusão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9200" y="1828800"/>
            <a:ext cx="174345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b="1" spc="-60" kern="0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Limitações que encontramos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219200" y="3505200"/>
            <a:ext cx="76200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3749040"/>
            <a:ext cx="83820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Checkov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19200" y="4358640"/>
            <a:ext cx="784860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105"/>
              </a:lnSpc>
              <a:buNone/>
            </a:pPr>
            <a:r>
              <a:rPr lang="en-US" sz="30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classifica severidade na versão gratuita.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448800" y="3505200"/>
            <a:ext cx="76200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8" name="Text 6"/>
          <p:cNvSpPr/>
          <p:nvPr/>
        </p:nvSpPr>
        <p:spPr>
          <a:xfrm>
            <a:off x="9448800" y="3749040"/>
            <a:ext cx="83820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Checkov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448800" y="4358640"/>
            <a:ext cx="784860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105"/>
              </a:lnSpc>
              <a:buNone/>
            </a:pPr>
            <a:r>
              <a:rPr lang="en-US" sz="30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política CKV_AZURE_10 não reconhece notação CIDR.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219200" y="6035040"/>
            <a:ext cx="76200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11" name="Text 9"/>
          <p:cNvSpPr/>
          <p:nvPr/>
        </p:nvSpPr>
        <p:spPr>
          <a:xfrm>
            <a:off x="1219200" y="6278880"/>
            <a:ext cx="83820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ZAP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19200" y="6888480"/>
            <a:ext cx="784860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105"/>
              </a:lnSpc>
              <a:buNone/>
            </a:pPr>
            <a:r>
              <a:rPr lang="en-US" sz="30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código de saída dos scripts ignora severidade.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448800" y="6035040"/>
            <a:ext cx="7620000" cy="15240"/>
          </a:xfrm>
          <a:prstGeom prst="rect">
            <a:avLst/>
          </a:prstGeom>
          <a:solidFill>
            <a:srgbClr val="D5E0F0"/>
          </a:solidFill>
          <a:ln/>
        </p:spPr>
      </p:sp>
      <p:sp>
        <p:nvSpPr>
          <p:cNvPr id="14" name="Text 12"/>
          <p:cNvSpPr/>
          <p:nvPr/>
        </p:nvSpPr>
        <p:spPr>
          <a:xfrm>
            <a:off x="9448800" y="6278880"/>
            <a:ext cx="83820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ZAP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448800" y="6888480"/>
            <a:ext cx="784860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105"/>
              </a:lnSpc>
              <a:buNone/>
            </a:pPr>
            <a:r>
              <a:rPr lang="en-US" sz="30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Alertas passivos variam entre execuções idênticas.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19200" y="9220200"/>
            <a:ext cx="448175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Checkpoint 01 · DevSecOps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713994" y="9220200"/>
            <a:ext cx="43100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74345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Conclusão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9200" y="1828800"/>
            <a:ext cx="174345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b="1" spc="-60" kern="0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Recomendação de toolchain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219200" y="3505200"/>
            <a:ext cx="3848100" cy="76200"/>
          </a:xfrm>
          <a:prstGeom prst="rect">
            <a:avLst/>
          </a:prstGeom>
          <a:solidFill>
            <a:srgbClr val="0A2A5E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3810000"/>
            <a:ext cx="396354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219200" y="4800600"/>
            <a:ext cx="2286000" cy="7620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28503" r="-28503" t="0" b="0"/>
          <a:stretch/>
        </p:blipFill>
        <p:spPr>
          <a:xfrm>
            <a:off x="1219200" y="4800600"/>
            <a:ext cx="2286000" cy="762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19200" y="5867400"/>
            <a:ext cx="423291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Semgrep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219200" y="6629400"/>
            <a:ext cx="1204317" cy="609600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10" name="Text 7"/>
          <p:cNvSpPr/>
          <p:nvPr/>
        </p:nvSpPr>
        <p:spPr>
          <a:xfrm>
            <a:off x="1447800" y="6705600"/>
            <a:ext cx="82331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Gate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219700" y="3505200"/>
            <a:ext cx="3848100" cy="76200"/>
          </a:xfrm>
          <a:prstGeom prst="rect">
            <a:avLst/>
          </a:prstGeom>
          <a:solidFill>
            <a:srgbClr val="0A2A5E"/>
          </a:solidFill>
          <a:ln/>
        </p:spPr>
      </p:sp>
      <p:sp>
        <p:nvSpPr>
          <p:cNvPr id="12" name="Text 9"/>
          <p:cNvSpPr/>
          <p:nvPr/>
        </p:nvSpPr>
        <p:spPr>
          <a:xfrm>
            <a:off x="5219700" y="3810000"/>
            <a:ext cx="396354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5219700" y="4800600"/>
            <a:ext cx="2286000" cy="7620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-2200" r="-2200" t="0" b="0"/>
          <a:stretch/>
        </p:blipFill>
        <p:spPr>
          <a:xfrm>
            <a:off x="5219700" y="4800600"/>
            <a:ext cx="2286000" cy="7620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19700" y="5867400"/>
            <a:ext cx="423291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Dependency-Check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5219700" y="6629400"/>
            <a:ext cx="1204317" cy="609600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17" name="Text 13"/>
          <p:cNvSpPr/>
          <p:nvPr/>
        </p:nvSpPr>
        <p:spPr>
          <a:xfrm>
            <a:off x="5448300" y="6705600"/>
            <a:ext cx="82331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Gate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9220200" y="3505200"/>
            <a:ext cx="3848100" cy="76200"/>
          </a:xfrm>
          <a:prstGeom prst="rect">
            <a:avLst/>
          </a:prstGeom>
          <a:solidFill>
            <a:srgbClr val="0A2A5E"/>
          </a:solidFill>
          <a:ln/>
        </p:spPr>
      </p:sp>
      <p:sp>
        <p:nvSpPr>
          <p:cNvPr id="19" name="Text 15"/>
          <p:cNvSpPr/>
          <p:nvPr/>
        </p:nvSpPr>
        <p:spPr>
          <a:xfrm>
            <a:off x="9220200" y="3810000"/>
            <a:ext cx="396354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</a:t>
            </a:r>
            <a:endParaRPr lang="en-US" sz="3600" dirty="0"/>
          </a:p>
        </p:txBody>
      </p:sp>
      <p:sp>
        <p:nvSpPr>
          <p:cNvPr id="20" name="Shape 16"/>
          <p:cNvSpPr/>
          <p:nvPr/>
        </p:nvSpPr>
        <p:spPr>
          <a:xfrm>
            <a:off x="9220200" y="4800600"/>
            <a:ext cx="2286000" cy="7620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-8231" r="-8231" t="0" b="0"/>
          <a:stretch/>
        </p:blipFill>
        <p:spPr>
          <a:xfrm>
            <a:off x="9220200" y="4800600"/>
            <a:ext cx="2286000" cy="7620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220200" y="5867400"/>
            <a:ext cx="396354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ZAP, plano de automação</a:t>
            </a:r>
            <a:endParaRPr lang="en-US" sz="2400" dirty="0"/>
          </a:p>
        </p:txBody>
      </p:sp>
      <p:sp>
        <p:nvSpPr>
          <p:cNvPr id="23" name="Shape 18"/>
          <p:cNvSpPr/>
          <p:nvPr/>
        </p:nvSpPr>
        <p:spPr>
          <a:xfrm>
            <a:off x="9220200" y="7086600"/>
            <a:ext cx="1204317" cy="609600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24" name="Text 19"/>
          <p:cNvSpPr/>
          <p:nvPr/>
        </p:nvSpPr>
        <p:spPr>
          <a:xfrm>
            <a:off x="9448800" y="7162800"/>
            <a:ext cx="82331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Gate</a:t>
            </a:r>
            <a:endParaRPr lang="en-US" sz="2400" dirty="0"/>
          </a:p>
        </p:txBody>
      </p:sp>
      <p:sp>
        <p:nvSpPr>
          <p:cNvPr id="25" name="Shape 20"/>
          <p:cNvSpPr/>
          <p:nvPr/>
        </p:nvSpPr>
        <p:spPr>
          <a:xfrm>
            <a:off x="13220700" y="3505200"/>
            <a:ext cx="3848100" cy="76200"/>
          </a:xfrm>
          <a:prstGeom prst="rect">
            <a:avLst/>
          </a:prstGeom>
          <a:solidFill>
            <a:srgbClr val="0A2A5E"/>
          </a:solidFill>
          <a:ln/>
        </p:spPr>
      </p:sp>
      <p:sp>
        <p:nvSpPr>
          <p:cNvPr id="26" name="Text 21"/>
          <p:cNvSpPr/>
          <p:nvPr/>
        </p:nvSpPr>
        <p:spPr>
          <a:xfrm>
            <a:off x="13220700" y="3810000"/>
            <a:ext cx="396354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Deploy</a:t>
            </a:r>
            <a:endParaRPr lang="en-US" sz="3600" dirty="0"/>
          </a:p>
        </p:txBody>
      </p:sp>
      <p:sp>
        <p:nvSpPr>
          <p:cNvPr id="27" name="Shape 22"/>
          <p:cNvSpPr/>
          <p:nvPr/>
        </p:nvSpPr>
        <p:spPr>
          <a:xfrm>
            <a:off x="13220700" y="4800600"/>
            <a:ext cx="2286000" cy="7620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33263" b="-33263"/>
          <a:stretch/>
        </p:blipFill>
        <p:spPr>
          <a:xfrm>
            <a:off x="13220700" y="4800600"/>
            <a:ext cx="2286000" cy="7620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3220700" y="5867400"/>
            <a:ext cx="423291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Checkov</a:t>
            </a:r>
            <a:endParaRPr lang="en-US" sz="2400" dirty="0"/>
          </a:p>
        </p:txBody>
      </p:sp>
      <p:sp>
        <p:nvSpPr>
          <p:cNvPr id="30" name="Shape 24"/>
          <p:cNvSpPr/>
          <p:nvPr/>
        </p:nvSpPr>
        <p:spPr>
          <a:xfrm>
            <a:off x="13220700" y="6629400"/>
            <a:ext cx="2272308" cy="609600"/>
          </a:xfrm>
          <a:prstGeom prst="rect">
            <a:avLst/>
          </a:prstGeom>
          <a:solidFill>
            <a:srgbClr val="E4EDFA"/>
          </a:solidFill>
          <a:ln/>
        </p:spPr>
      </p:sp>
      <p:sp>
        <p:nvSpPr>
          <p:cNvPr id="31" name="Text 25"/>
          <p:cNvSpPr/>
          <p:nvPr/>
        </p:nvSpPr>
        <p:spPr>
          <a:xfrm>
            <a:off x="13449300" y="6705600"/>
            <a:ext cx="189130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Informativo</a:t>
            </a:r>
            <a:endParaRPr lang="en-US" sz="2400" dirty="0"/>
          </a:p>
        </p:txBody>
      </p:sp>
      <p:sp>
        <p:nvSpPr>
          <p:cNvPr id="32" name="Text 26"/>
          <p:cNvSpPr/>
          <p:nvPr/>
        </p:nvSpPr>
        <p:spPr>
          <a:xfrm>
            <a:off x="1219200" y="8305800"/>
            <a:ext cx="150876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C24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gate por criticidade precisa ficar em ferramenta que atribui severidade real.</a:t>
            </a:r>
            <a:endParaRPr lang="en-US" sz="2400" dirty="0"/>
          </a:p>
        </p:txBody>
      </p:sp>
      <p:sp>
        <p:nvSpPr>
          <p:cNvPr id="33" name="Text 27"/>
          <p:cNvSpPr/>
          <p:nvPr/>
        </p:nvSpPr>
        <p:spPr>
          <a:xfrm>
            <a:off x="1219200" y="9220200"/>
            <a:ext cx="448175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Checkpoint 01 · DevSecOps</a:t>
            </a:r>
            <a:endParaRPr lang="en-US" sz="2400" dirty="0"/>
          </a:p>
        </p:txBody>
      </p:sp>
      <p:sp>
        <p:nvSpPr>
          <p:cNvPr id="34" name="Text 28"/>
          <p:cNvSpPr/>
          <p:nvPr/>
        </p:nvSpPr>
        <p:spPr>
          <a:xfrm>
            <a:off x="16701731" y="9220200"/>
            <a:ext cx="44327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1219200"/>
            <a:ext cx="174345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Encerramento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219200" y="1828800"/>
            <a:ext cx="17434560" cy="1254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8400" b="1" spc="-168" kern="0" dirty="0">
                <a:solidFill>
                  <a:srgbClr val="0A2A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Perguntas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1219200" y="3959305"/>
            <a:ext cx="174345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Repositório do laboratório</a:t>
            </a:r>
            <a:endParaRPr lang="en-US" sz="24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1219200" y="4568905"/>
            <a:ext cx="174345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u="sng" dirty="0">
                <a:solidFill>
                  <a:srgbClr val="2563C9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github.com/org-cloud-security/cp01-devsecops.fiap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19200" y="8153400"/>
            <a:ext cx="280836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Anderson Huang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34257" y="8153400"/>
            <a:ext cx="257497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Bruno Henrique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37145" y="8153400"/>
            <a:ext cx="303965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Guylherme Miguel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162466" y="8153400"/>
            <a:ext cx="143371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Luiz Brito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19200" y="9220200"/>
            <a:ext cx="448175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Checkpoint 01 · DevSecOps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702088" y="9220200"/>
            <a:ext cx="44291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2026-09-28T17:52:53Z</dcterms:created>
  <dcterms:modified xsi:type="dcterms:W3CDTF">2026-09-28T17:52:53Z</dcterms:modified>
</cp:coreProperties>
</file>